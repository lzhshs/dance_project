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7772400" y="-182880"/>
            <a:ext cx="4754880" cy="1920240"/>
          </a:xfrm>
          <a:prstGeom prst="parallelogram">
            <a:avLst/>
          </a:prstGeom>
          <a:solidFill>
            <a:srgbClr val="0D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6355080"/>
            <a:ext cx="685800" cy="3200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25880" y="6355080"/>
            <a:ext cx="685800" cy="32004"/>
          </a:xfrm>
          <a:prstGeom prst="rect">
            <a:avLst/>
          </a:prstGeom>
          <a:solidFill>
            <a:srgbClr val="FF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31720" y="6355080"/>
            <a:ext cx="685800" cy="3200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37560" y="6355080"/>
            <a:ext cx="685800" cy="32004"/>
          </a:xfrm>
          <a:prstGeom prst="rect">
            <a:avLst/>
          </a:prstGeom>
          <a:solidFill>
            <a:srgbClr val="FF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3400" y="6355080"/>
            <a:ext cx="685800" cy="3200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49240" y="6355080"/>
            <a:ext cx="685800" cy="32004"/>
          </a:xfrm>
          <a:prstGeom prst="rect">
            <a:avLst/>
          </a:prstGeom>
          <a:solidFill>
            <a:srgbClr val="FF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47548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200" b="1">
                <a:solidFill>
                  <a:srgbClr val="EEF6F9"/>
                </a:solidFill>
                <a:latin typeface="Bahnschrift"/>
              </a:rPr>
              <a:t>Can AI make a robot dance to music?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024128"/>
            <a:ext cx="6126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0">
                <a:solidFill>
                  <a:srgbClr val="B6E8F2"/>
                </a:solidFill>
                <a:latin typeface="Aptos"/>
              </a:rPr>
              <a:t>Human dance generation is expressive; humanoid execution is constrained by physics.</a:t>
            </a:r>
          </a:p>
        </p:txBody>
      </p:sp>
      <p:pic>
        <p:nvPicPr>
          <p:cNvPr id="11" name="Picture 10" descr="waack_two_version_she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72768"/>
            <a:ext cx="11045952" cy="32461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13232" y="5047488"/>
            <a:ext cx="1508760" cy="320040"/>
          </a:xfrm>
          <a:prstGeom prst="roundRect">
            <a:avLst/>
          </a:prstGeom>
          <a:solidFill>
            <a:srgbClr val="FF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116068"/>
            <a:ext cx="12893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081220"/>
                </a:solidFill>
                <a:latin typeface="Aptos"/>
              </a:rPr>
              <a:t>SHOWCASE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5111496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EEF6F9"/>
                </a:solidFill>
                <a:latin typeface="Aptos"/>
              </a:rPr>
              <a:t>looks like dancing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5047488"/>
            <a:ext cx="1508760" cy="32004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64608" y="5116068"/>
            <a:ext cx="12893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081220"/>
                </a:solidFill>
                <a:latin typeface="Aptos"/>
              </a:rPr>
              <a:t>FREE-ROOT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5111496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EEF6F9"/>
                </a:solidFill>
                <a:latin typeface="Aptos"/>
              </a:rPr>
              <a:t>tests physical survival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50992"/>
            <a:ext cx="8961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rgbClr val="EEF6F9"/>
                </a:solidFill>
                <a:latin typeface="Aptos"/>
              </a:rPr>
              <a:t>Key question: not only "does it move?", but "can it stand?"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7772400" y="-182880"/>
            <a:ext cx="4754880" cy="1920240"/>
          </a:xfrm>
          <a:prstGeom prst="parallelogram">
            <a:avLst/>
          </a:prstGeom>
          <a:solidFill>
            <a:srgbClr val="0D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6355080"/>
            <a:ext cx="685800" cy="3200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25880" y="6355080"/>
            <a:ext cx="685800" cy="32004"/>
          </a:xfrm>
          <a:prstGeom prst="rect">
            <a:avLst/>
          </a:prstGeom>
          <a:solidFill>
            <a:srgbClr val="FF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31720" y="6355080"/>
            <a:ext cx="685800" cy="3200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37560" y="6355080"/>
            <a:ext cx="685800" cy="32004"/>
          </a:xfrm>
          <a:prstGeom prst="rect">
            <a:avLst/>
          </a:prstGeom>
          <a:solidFill>
            <a:srgbClr val="FF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3400" y="6355080"/>
            <a:ext cx="685800" cy="3200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49240" y="6355080"/>
            <a:ext cx="685800" cy="32004"/>
          </a:xfrm>
          <a:prstGeom prst="rect">
            <a:avLst/>
          </a:prstGeom>
          <a:solidFill>
            <a:srgbClr val="FF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347472"/>
            <a:ext cx="79552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100" b="1">
                <a:solidFill>
                  <a:srgbClr val="EEF6F9"/>
                </a:solidFill>
                <a:latin typeface="Bahnschrift"/>
              </a:rPr>
              <a:t>The missing link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932688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1">
                <a:solidFill>
                  <a:srgbClr val="34D399"/>
                </a:solidFill>
                <a:latin typeface="Aptos"/>
              </a:rPr>
              <a:t>BACKGROUND  |  MUSIC-TO-DANCE VS ROBOT EXECUTION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417320"/>
            <a:ext cx="3154680" cy="3246120"/>
          </a:xfrm>
          <a:prstGeom prst="roundRect">
            <a:avLst/>
          </a:prstGeom>
          <a:solidFill>
            <a:srgbClr val="122D42"/>
          </a:solidFill>
          <a:ln w="15240">
            <a:solidFill>
              <a:srgbClr val="FFA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673352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1">
                <a:solidFill>
                  <a:srgbClr val="EEF6F9"/>
                </a:solidFill>
                <a:latin typeface="Aptos"/>
              </a:rPr>
              <a:t>Music-to-Dance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075688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1">
                <a:solidFill>
                  <a:srgbClr val="FFA44B"/>
                </a:solidFill>
                <a:latin typeface="Aptos"/>
              </a:rPr>
              <a:t>EDGE / AIST++ / Bailando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578608"/>
            <a:ext cx="25146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rgbClr val="EEF6F9"/>
                </a:solidFill>
                <a:latin typeface="Aptos"/>
              </a:rPr>
              <a:t>Generates human skeleton or SMPL motion.
Great for visual choreography,
not robot dynamics.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417320"/>
            <a:ext cx="3154680" cy="3246120"/>
          </a:xfrm>
          <a:prstGeom prst="roundRect">
            <a:avLst/>
          </a:prstGeom>
          <a:solidFill>
            <a:srgbClr val="122D42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1080" y="167335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1">
                <a:solidFill>
                  <a:srgbClr val="EEF6F9"/>
                </a:solidFill>
                <a:latin typeface="Aptos"/>
              </a:rPr>
              <a:t>Robot 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2075688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1">
                <a:solidFill>
                  <a:srgbClr val="34D399"/>
                </a:solidFill>
                <a:latin typeface="Aptos"/>
              </a:rPr>
              <a:t>MoCap / choreography / MPC / RL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2578608"/>
            <a:ext cx="25146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rgbClr val="EEF6F9"/>
                </a:solidFill>
                <a:latin typeface="Aptos"/>
              </a:rPr>
              <a:t>Can execute designed motions,
but usually not direct arbitrary
music-conditioned generation.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1828800"/>
            <a:ext cx="3794760" cy="2514600"/>
          </a:xfrm>
          <a:prstGeom prst="roundRect">
            <a:avLst/>
          </a:prstGeom>
          <a:solidFill>
            <a:srgbClr val="113C4B"/>
          </a:solidFill>
          <a:ln w="15240">
            <a:solidFill>
              <a:srgbClr val="B6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2084831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>
                <a:solidFill>
                  <a:srgbClr val="B6E8F2"/>
                </a:solidFill>
                <a:latin typeface="Aptos"/>
              </a:rPr>
              <a:t>Our focus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670048"/>
            <a:ext cx="27889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50" b="0">
                <a:solidFill>
                  <a:srgbClr val="EEF6F9"/>
                </a:solidFill>
                <a:latin typeface="Aptos"/>
              </a:rPr>
              <a:t>Physics-aware retargeting from
music-conditioned human dance
to Unitree G1 rollout.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767328" y="2880360"/>
            <a:ext cx="457200" cy="0"/>
          </a:xfrm>
          <a:prstGeom prst="line">
            <a:avLst/>
          </a:prstGeom>
          <a:ln w="25400">
            <a:solidFill>
              <a:srgbClr val="FFA4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065008" y="2880360"/>
            <a:ext cx="274319" cy="0"/>
          </a:xfrm>
          <a:prstGeom prst="line">
            <a:avLst/>
          </a:prstGeom>
          <a:ln w="254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60120" y="5285232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1">
                <a:solidFill>
                  <a:srgbClr val="EEF6F9"/>
                </a:solidFill>
                <a:latin typeface="Aptos"/>
              </a:rPr>
              <a:t>Direct music → stable humanoid dance is not yet an off-the-shelf solution.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7772400" y="-182880"/>
            <a:ext cx="4754880" cy="1920240"/>
          </a:xfrm>
          <a:prstGeom prst="parallelogram">
            <a:avLst/>
          </a:prstGeom>
          <a:solidFill>
            <a:srgbClr val="0D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6355080"/>
            <a:ext cx="685800" cy="3200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25880" y="6355080"/>
            <a:ext cx="685800" cy="32004"/>
          </a:xfrm>
          <a:prstGeom prst="rect">
            <a:avLst/>
          </a:prstGeom>
          <a:solidFill>
            <a:srgbClr val="FF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31720" y="6355080"/>
            <a:ext cx="685800" cy="3200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37560" y="6355080"/>
            <a:ext cx="685800" cy="32004"/>
          </a:xfrm>
          <a:prstGeom prst="rect">
            <a:avLst/>
          </a:prstGeom>
          <a:solidFill>
            <a:srgbClr val="FF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3400" y="6355080"/>
            <a:ext cx="685800" cy="3200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49240" y="6355080"/>
            <a:ext cx="685800" cy="32004"/>
          </a:xfrm>
          <a:prstGeom prst="rect">
            <a:avLst/>
          </a:prstGeom>
          <a:solidFill>
            <a:srgbClr val="FF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347472"/>
            <a:ext cx="79552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100" b="1">
                <a:solidFill>
                  <a:srgbClr val="EEF6F9"/>
                </a:solidFill>
                <a:latin typeface="Bahnschrift"/>
              </a:rPr>
              <a:t>Project goal and innovation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932688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1">
                <a:solidFill>
                  <a:srgbClr val="34D399"/>
                </a:solidFill>
                <a:latin typeface="Aptos"/>
              </a:rPr>
              <a:t>POSITIONING  |  A PHYSICS-AWARE BRIDGE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1417320"/>
            <a:ext cx="2743200" cy="3566160"/>
          </a:xfrm>
          <a:prstGeom prst="roundRect">
            <a:avLst/>
          </a:prstGeom>
          <a:solidFill>
            <a:srgbClr val="122D42"/>
          </a:solidFill>
          <a:ln w="15240">
            <a:solidFill>
              <a:srgbClr val="B6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6916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1">
                <a:solidFill>
                  <a:srgbClr val="B6E8F2"/>
                </a:solidFill>
                <a:latin typeface="Aptos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14884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0">
                <a:solidFill>
                  <a:srgbClr val="EEF6F9"/>
                </a:solidFill>
                <a:latin typeface="Aptos"/>
              </a:rPr>
              <a:t>Music / existing generated pkl
SMPL human dance motion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84448" y="2907792"/>
            <a:ext cx="603504" cy="0"/>
          </a:xfrm>
          <a:prstGeom prst="line">
            <a:avLst/>
          </a:prstGeom>
          <a:ln w="25400">
            <a:solidFill>
              <a:srgbClr val="B6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370832" y="1234440"/>
            <a:ext cx="3474720" cy="3977639"/>
          </a:xfrm>
          <a:prstGeom prst="roundRect">
            <a:avLst/>
          </a:prstGeom>
          <a:solidFill>
            <a:srgbClr val="103749"/>
          </a:solidFill>
          <a:ln w="15240">
            <a:solidFill>
              <a:srgbClr val="FFA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1728" y="15361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1">
                <a:solidFill>
                  <a:srgbClr val="FFA44B"/>
                </a:solidFill>
                <a:latin typeface="Aptos"/>
              </a:rPr>
              <a:t>Our contribution</a:t>
            </a:r>
          </a:p>
        </p:txBody>
      </p:sp>
      <p:sp>
        <p:nvSpPr>
          <p:cNvPr id="17" name="Oval 16"/>
          <p:cNvSpPr/>
          <p:nvPr/>
        </p:nvSpPr>
        <p:spPr>
          <a:xfrm>
            <a:off x="4663440" y="2139696"/>
            <a:ext cx="164592" cy="164592"/>
          </a:xfrm>
          <a:prstGeom prst="ellipse">
            <a:avLst/>
          </a:prstGeom>
          <a:solidFill>
            <a:srgbClr val="FF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59" y="2112264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1">
                <a:solidFill>
                  <a:srgbClr val="EEF6F9"/>
                </a:solidFill>
                <a:latin typeface="Aptos"/>
              </a:rPr>
              <a:t>Retarget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59" y="2331720"/>
            <a:ext cx="3840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>
                <a:solidFill>
                  <a:srgbClr val="A5BAC5"/>
                </a:solidFill>
                <a:latin typeface="Aptos"/>
              </a:rPr>
              <a:t>SMPL-to-G1 mapping and diagnostics</a:t>
            </a:r>
          </a:p>
        </p:txBody>
      </p:sp>
      <p:sp>
        <p:nvSpPr>
          <p:cNvPr id="20" name="Oval 19"/>
          <p:cNvSpPr/>
          <p:nvPr/>
        </p:nvSpPr>
        <p:spPr>
          <a:xfrm>
            <a:off x="4663440" y="2834640"/>
            <a:ext cx="164592" cy="164592"/>
          </a:xfrm>
          <a:prstGeom prst="ellipse">
            <a:avLst/>
          </a:prstGeom>
          <a:solidFill>
            <a:srgbClr val="FF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59" y="2807208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1">
                <a:solidFill>
                  <a:srgbClr val="EEF6F9"/>
                </a:solidFill>
                <a:latin typeface="Aptos"/>
              </a:rPr>
              <a:t>Constrain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59" y="3026664"/>
            <a:ext cx="3840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>
                <a:solidFill>
                  <a:srgbClr val="A5BAC5"/>
                </a:solidFill>
                <a:latin typeface="Aptos"/>
              </a:rPr>
              <a:t>safe / expressive / balance / showcase profiles</a:t>
            </a:r>
          </a:p>
        </p:txBody>
      </p:sp>
      <p:sp>
        <p:nvSpPr>
          <p:cNvPr id="23" name="Oval 22"/>
          <p:cNvSpPr/>
          <p:nvPr/>
        </p:nvSpPr>
        <p:spPr>
          <a:xfrm>
            <a:off x="4663440" y="3529584"/>
            <a:ext cx="164592" cy="164592"/>
          </a:xfrm>
          <a:prstGeom prst="ellipse">
            <a:avLst/>
          </a:prstGeom>
          <a:solidFill>
            <a:srgbClr val="FF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59" y="3502152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1">
                <a:solidFill>
                  <a:srgbClr val="EEF6F9"/>
                </a:solidFill>
                <a:latin typeface="Aptos"/>
              </a:rPr>
              <a:t>Evaluate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59" y="3721608"/>
            <a:ext cx="3840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>
                <a:solidFill>
                  <a:srgbClr val="A5BAC5"/>
                </a:solidFill>
                <a:latin typeface="Aptos"/>
              </a:rPr>
              <a:t>pinned visual check + free-root physics rollout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001000" y="2907792"/>
            <a:ext cx="576072" cy="0"/>
          </a:xfrm>
          <a:prstGeom prst="line">
            <a:avLst/>
          </a:prstGeom>
          <a:ln w="254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759952" y="1417320"/>
            <a:ext cx="2697480" cy="3566160"/>
          </a:xfrm>
          <a:prstGeom prst="roundRect">
            <a:avLst/>
          </a:prstGeom>
          <a:solidFill>
            <a:srgbClr val="122D42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0" y="16916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1">
                <a:solidFill>
                  <a:srgbClr val="34D399"/>
                </a:solidFill>
                <a:latin typeface="Aptos"/>
              </a:rPr>
              <a:t>Output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52560" y="2258568"/>
            <a:ext cx="1234440" cy="320040"/>
          </a:xfrm>
          <a:prstGeom prst="roundRect">
            <a:avLst/>
          </a:prstGeom>
          <a:solidFill>
            <a:srgbClr val="FF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62288" y="2327148"/>
            <a:ext cx="10149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081220"/>
                </a:solidFill>
                <a:latin typeface="Aptos"/>
              </a:rPr>
              <a:t>PINNED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2670048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rgbClr val="EEF6F9"/>
                </a:solidFill>
                <a:latin typeface="Aptos"/>
              </a:rPr>
              <a:t>visual showcase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52560" y="3273552"/>
            <a:ext cx="1417320" cy="32004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62288" y="3342132"/>
            <a:ext cx="11978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081220"/>
                </a:solidFill>
                <a:latin typeface="Aptos"/>
              </a:rPr>
              <a:t>FREE-ROOT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3685032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rgbClr val="EEF6F9"/>
                </a:solidFill>
                <a:latin typeface="Aptos"/>
              </a:rPr>
              <a:t>stable rollout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5650992"/>
            <a:ext cx="10149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EEF6F9"/>
                </a:solidFill>
                <a:latin typeface="Aptos"/>
              </a:rPr>
              <a:t>Innovation: an honest bridge and evaluation framework, not just a video demo.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7772400" y="-182880"/>
            <a:ext cx="4754880" cy="1920240"/>
          </a:xfrm>
          <a:prstGeom prst="parallelogram">
            <a:avLst/>
          </a:prstGeom>
          <a:solidFill>
            <a:srgbClr val="0D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6355080"/>
            <a:ext cx="685800" cy="3200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25880" y="6355080"/>
            <a:ext cx="685800" cy="32004"/>
          </a:xfrm>
          <a:prstGeom prst="rect">
            <a:avLst/>
          </a:prstGeom>
          <a:solidFill>
            <a:srgbClr val="FF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31720" y="6355080"/>
            <a:ext cx="685800" cy="3200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37560" y="6355080"/>
            <a:ext cx="685800" cy="32004"/>
          </a:xfrm>
          <a:prstGeom prst="rect">
            <a:avLst/>
          </a:prstGeom>
          <a:solidFill>
            <a:srgbClr val="FF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3400" y="6355080"/>
            <a:ext cx="685800" cy="3200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49240" y="6355080"/>
            <a:ext cx="685800" cy="32004"/>
          </a:xfrm>
          <a:prstGeom prst="rect">
            <a:avLst/>
          </a:prstGeom>
          <a:solidFill>
            <a:srgbClr val="FF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347472"/>
            <a:ext cx="79552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100" b="1">
                <a:solidFill>
                  <a:srgbClr val="EEF6F9"/>
                </a:solidFill>
                <a:latin typeface="Bahnschrift"/>
              </a:rPr>
              <a:t>Pipeline: retarget, constrain, simulate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932688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1">
                <a:solidFill>
                  <a:srgbClr val="34D399"/>
                </a:solidFill>
                <a:latin typeface="Aptos"/>
              </a:rPr>
              <a:t>METHOD  |  FROM SMPL DANCE TO G1 ROLLOUT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417320"/>
            <a:ext cx="1938528" cy="3520440"/>
          </a:xfrm>
          <a:prstGeom prst="roundRect">
            <a:avLst/>
          </a:prstGeom>
          <a:solidFill>
            <a:srgbClr val="122D42"/>
          </a:solidFill>
          <a:ln w="15240">
            <a:solidFill>
              <a:srgbClr val="B6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166420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FFA44B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212848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50" b="1">
                <a:solidFill>
                  <a:srgbClr val="EEF6F9"/>
                </a:solidFill>
                <a:latin typeface="Aptos"/>
              </a:rPr>
              <a:t>Music / pkl motion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907792"/>
            <a:ext cx="1536192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A5BAC5"/>
                </a:solidFill>
                <a:latin typeface="Aptos"/>
              </a:rPr>
              <a:t>Generated or existing dance clips.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96896" y="3127248"/>
            <a:ext cx="274319" cy="0"/>
          </a:xfrm>
          <a:prstGeom prst="line">
            <a:avLst/>
          </a:prstGeom>
          <a:ln w="25400">
            <a:solidFill>
              <a:srgbClr val="B6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944368" y="1417320"/>
            <a:ext cx="1938528" cy="3520440"/>
          </a:xfrm>
          <a:prstGeom prst="roundRect">
            <a:avLst/>
          </a:prstGeom>
          <a:solidFill>
            <a:srgbClr val="122D42"/>
          </a:solidFill>
          <a:ln w="15240">
            <a:solidFill>
              <a:srgbClr val="B6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45536" y="166420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FFA44B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45536" y="2212848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50" b="1">
                <a:solidFill>
                  <a:srgbClr val="EEF6F9"/>
                </a:solidFill>
                <a:latin typeface="Aptos"/>
              </a:rPr>
              <a:t>SMPL human dance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45536" y="2907792"/>
            <a:ext cx="1536192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A5BAC5"/>
                </a:solidFill>
                <a:latin typeface="Aptos"/>
              </a:rPr>
              <a:t>Human motion prior from music models.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82896" y="3127248"/>
            <a:ext cx="274320" cy="0"/>
          </a:xfrm>
          <a:prstGeom prst="line">
            <a:avLst/>
          </a:prstGeom>
          <a:ln w="25400">
            <a:solidFill>
              <a:srgbClr val="B6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230368" y="1417320"/>
            <a:ext cx="1938528" cy="3520440"/>
          </a:xfrm>
          <a:prstGeom prst="roundRect">
            <a:avLst/>
          </a:prstGeom>
          <a:solidFill>
            <a:srgbClr val="122D42"/>
          </a:solidFill>
          <a:ln w="15240">
            <a:solidFill>
              <a:srgbClr val="FFA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31536" y="166420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FFA44B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31536" y="2212848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50" b="1">
                <a:solidFill>
                  <a:srgbClr val="EEF6F9"/>
                </a:solidFill>
                <a:latin typeface="Aptos"/>
              </a:rPr>
              <a:t>SMPL-to-G1 retargeting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31536" y="2907792"/>
            <a:ext cx="1536192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A5BAC5"/>
                </a:solidFill>
                <a:latin typeface="Aptos"/>
              </a:rPr>
              <a:t>Map body parts and adapt arms.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68896" y="3127248"/>
            <a:ext cx="274320" cy="0"/>
          </a:xfrm>
          <a:prstGeom prst="line">
            <a:avLst/>
          </a:prstGeom>
          <a:ln w="25400">
            <a:solidFill>
              <a:srgbClr val="B6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516368" y="1417320"/>
            <a:ext cx="1938528" cy="3520440"/>
          </a:xfrm>
          <a:prstGeom prst="roundRect">
            <a:avLst/>
          </a:prstGeom>
          <a:solidFill>
            <a:srgbClr val="122D42"/>
          </a:solidFill>
          <a:ln w="15240">
            <a:solidFill>
              <a:srgbClr val="FFA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17536" y="166420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FFA44B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17536" y="2212848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50" b="1">
                <a:solidFill>
                  <a:srgbClr val="EEF6F9"/>
                </a:solidFill>
                <a:latin typeface="Aptos"/>
              </a:rPr>
              <a:t>Motion profiles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17536" y="2907792"/>
            <a:ext cx="1536192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A5BAC5"/>
                </a:solidFill>
                <a:latin typeface="Aptos"/>
              </a:rPr>
              <a:t>Safe, expressive, balance, showcase.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454896" y="3127248"/>
            <a:ext cx="274320" cy="0"/>
          </a:xfrm>
          <a:prstGeom prst="line">
            <a:avLst/>
          </a:prstGeom>
          <a:ln w="25400">
            <a:solidFill>
              <a:srgbClr val="B6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802368" y="1417320"/>
            <a:ext cx="1938528" cy="3520440"/>
          </a:xfrm>
          <a:prstGeom prst="roundRect">
            <a:avLst/>
          </a:prstGeom>
          <a:solidFill>
            <a:srgbClr val="122D42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03536" y="166420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34D399"/>
                </a:solidFill>
                <a:latin typeface="Aptos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03536" y="2212848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50" b="1">
                <a:solidFill>
                  <a:srgbClr val="EEF6F9"/>
                </a:solidFill>
                <a:latin typeface="Aptos"/>
              </a:rPr>
              <a:t>MuJoCo PD rollout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03536" y="2907792"/>
            <a:ext cx="1536192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A5BAC5"/>
                </a:solidFill>
                <a:latin typeface="Aptos"/>
              </a:rPr>
              <a:t>Pinned display or free-root validation.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874519" y="5330952"/>
            <a:ext cx="8458200" cy="594360"/>
          </a:xfrm>
          <a:prstGeom prst="roundRect">
            <a:avLst/>
          </a:prstGeom>
          <a:solidFill>
            <a:srgbClr val="113C4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76272" y="5513832"/>
            <a:ext cx="78638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EEF6F9"/>
                </a:solidFill>
                <a:latin typeface="Aptos"/>
              </a:rPr>
              <a:t>Contact-aware balance correction + support-foot locking for the free-root branch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7772400" y="-182880"/>
            <a:ext cx="4754880" cy="1920240"/>
          </a:xfrm>
          <a:prstGeom prst="parallelogram">
            <a:avLst/>
          </a:prstGeom>
          <a:solidFill>
            <a:srgbClr val="0D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6355080"/>
            <a:ext cx="685800" cy="3200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25880" y="6355080"/>
            <a:ext cx="685800" cy="32004"/>
          </a:xfrm>
          <a:prstGeom prst="rect">
            <a:avLst/>
          </a:prstGeom>
          <a:solidFill>
            <a:srgbClr val="FF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31720" y="6355080"/>
            <a:ext cx="685800" cy="3200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37560" y="6355080"/>
            <a:ext cx="685800" cy="32004"/>
          </a:xfrm>
          <a:prstGeom prst="rect">
            <a:avLst/>
          </a:prstGeom>
          <a:solidFill>
            <a:srgbClr val="FF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3400" y="6355080"/>
            <a:ext cx="685800" cy="3200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49240" y="6355080"/>
            <a:ext cx="685800" cy="32004"/>
          </a:xfrm>
          <a:prstGeom prst="rect">
            <a:avLst/>
          </a:prstGeom>
          <a:solidFill>
            <a:srgbClr val="FF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347472"/>
            <a:ext cx="79552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100" b="1">
                <a:solidFill>
                  <a:srgbClr val="EEF6F9"/>
                </a:solidFill>
                <a:latin typeface="Bahnschrift"/>
              </a:rPr>
              <a:t>Experimental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932688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1">
                <a:solidFill>
                  <a:srgbClr val="34D399"/>
                </a:solidFill>
                <a:latin typeface="Aptos"/>
              </a:rPr>
              <a:t>EVALUATION  |  WHAT WE TESTED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1298448"/>
            <a:ext cx="1554480" cy="320040"/>
          </a:xfrm>
          <a:prstGeom prst="roundRect">
            <a:avLst/>
          </a:prstGeom>
          <a:solidFill>
            <a:srgbClr val="FF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1367028"/>
            <a:ext cx="13350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081220"/>
                </a:solidFill>
                <a:latin typeface="Aptos"/>
              </a:rPr>
              <a:t>ROBOT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137160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50" b="1">
                <a:solidFill>
                  <a:srgbClr val="EEF6F9"/>
                </a:solidFill>
                <a:latin typeface="Aptos"/>
              </a:rPr>
              <a:t>Unitree G1 in MuJoCo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2011680"/>
            <a:ext cx="1554480" cy="32004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2080260"/>
            <a:ext cx="13350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081220"/>
                </a:solidFill>
                <a:latin typeface="Aptos"/>
              </a:rPr>
              <a:t>CONTROLLER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2084832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50" b="1">
                <a:solidFill>
                  <a:srgbClr val="EEF6F9"/>
                </a:solidFill>
                <a:latin typeface="Aptos"/>
              </a:rPr>
              <a:t>PD tracking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724912"/>
            <a:ext cx="1554480" cy="320040"/>
          </a:xfrm>
          <a:prstGeom prst="roundRect">
            <a:avLst/>
          </a:prstGeom>
          <a:solidFill>
            <a:srgbClr val="FF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2793492"/>
            <a:ext cx="13350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081220"/>
                </a:solidFill>
                <a:latin typeface="Aptos"/>
              </a:rPr>
              <a:t>MOTION CLIPS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2798064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50" b="0">
                <a:solidFill>
                  <a:srgbClr val="EEF6F9"/>
                </a:solidFill>
                <a:latin typeface="Aptos"/>
              </a:rPr>
              <a:t>Pop-style generated motion + AIST++ Waack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438144"/>
            <a:ext cx="1554480" cy="32004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3506724"/>
            <a:ext cx="13350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081220"/>
                </a:solidFill>
                <a:latin typeface="Aptos"/>
              </a:rPr>
              <a:t>MODES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3511296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50" b="0">
                <a:solidFill>
                  <a:srgbClr val="EEF6F9"/>
                </a:solidFill>
                <a:latin typeface="Aptos"/>
              </a:rPr>
              <a:t>Pinned-root showcase vs free-root rollout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151376"/>
            <a:ext cx="1554480" cy="320040"/>
          </a:xfrm>
          <a:prstGeom prst="roundRect">
            <a:avLst/>
          </a:prstGeom>
          <a:solidFill>
            <a:srgbClr val="FF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4219956"/>
            <a:ext cx="13350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081220"/>
                </a:solidFill>
                <a:latin typeface="Aptos"/>
              </a:rPr>
              <a:t>METRICS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4224528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50" b="0">
                <a:solidFill>
                  <a:srgbClr val="EEF6F9"/>
                </a:solidFill>
                <a:latin typeface="Aptos"/>
              </a:rPr>
              <a:t>Stability, fall time, pelvis height, amplitude, foot slip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18120" y="1417320"/>
            <a:ext cx="3429000" cy="1508760"/>
          </a:xfrm>
          <a:prstGeom prst="roundRect">
            <a:avLst/>
          </a:prstGeom>
          <a:solidFill>
            <a:srgbClr val="122D42"/>
          </a:solidFill>
          <a:ln w="15240">
            <a:solidFill>
              <a:srgbClr val="FFA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171907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1">
                <a:solidFill>
                  <a:srgbClr val="FFA44B"/>
                </a:solidFill>
                <a:latin typeface="Aptos"/>
              </a:rPr>
              <a:t>Pinned showcase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2121408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>
                <a:solidFill>
                  <a:srgbClr val="EEF6F9"/>
                </a:solidFill>
                <a:latin typeface="Aptos"/>
              </a:rPr>
              <a:t>Fixed root
Best visual expressiveness
Not a physical proof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18120" y="3337560"/>
            <a:ext cx="3429000" cy="1508760"/>
          </a:xfrm>
          <a:prstGeom prst="roundRect">
            <a:avLst/>
          </a:prstGeom>
          <a:solidFill>
            <a:srgbClr val="122D42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0" y="363931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1">
                <a:solidFill>
                  <a:srgbClr val="34D399"/>
                </a:solidFill>
                <a:latin typeface="Aptos"/>
              </a:rPr>
              <a:t>Free-root stable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041648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>
                <a:solidFill>
                  <a:srgbClr val="EEF6F9"/>
                </a:solidFill>
                <a:latin typeface="Aptos"/>
              </a:rPr>
              <a:t>Floating root
Normal gravity simulation
Physical stability check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62356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rgbClr val="B6E8F2"/>
                </a:solidFill>
                <a:latin typeface="Aptos"/>
              </a:rPr>
              <a:t>This separation avoids overclaiming: visual quality and physical validity are different questions.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7772400" y="-182880"/>
            <a:ext cx="4754880" cy="1920240"/>
          </a:xfrm>
          <a:prstGeom prst="parallelogram">
            <a:avLst/>
          </a:prstGeom>
          <a:solidFill>
            <a:srgbClr val="0D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6355080"/>
            <a:ext cx="685800" cy="3200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25880" y="6355080"/>
            <a:ext cx="685800" cy="32004"/>
          </a:xfrm>
          <a:prstGeom prst="rect">
            <a:avLst/>
          </a:prstGeom>
          <a:solidFill>
            <a:srgbClr val="FF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31720" y="6355080"/>
            <a:ext cx="685800" cy="3200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37560" y="6355080"/>
            <a:ext cx="685800" cy="32004"/>
          </a:xfrm>
          <a:prstGeom prst="rect">
            <a:avLst/>
          </a:prstGeom>
          <a:solidFill>
            <a:srgbClr val="FF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3400" y="6355080"/>
            <a:ext cx="685800" cy="3200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49240" y="6355080"/>
            <a:ext cx="685800" cy="32004"/>
          </a:xfrm>
          <a:prstGeom prst="rect">
            <a:avLst/>
          </a:prstGeom>
          <a:solidFill>
            <a:srgbClr val="FF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347472"/>
            <a:ext cx="79552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100" b="1">
                <a:solidFill>
                  <a:srgbClr val="EEF6F9"/>
                </a:solidFill>
                <a:latin typeface="Bahnschrift"/>
              </a:rPr>
              <a:t>Results: expressive motions fall, stable motions shrink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932688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1">
                <a:solidFill>
                  <a:srgbClr val="34D399"/>
                </a:solidFill>
                <a:latin typeface="Aptos"/>
              </a:rPr>
              <a:t>ANALYSIS  |  STABILITY–EXPRESSIVENESS TRADE-OFF</a:t>
            </a:r>
          </a:p>
        </p:txBody>
      </p:sp>
      <p:pic>
        <p:nvPicPr>
          <p:cNvPr id="11" name="Picture 10" descr="pop_two_version_she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200400"/>
          </a:xfrm>
          <a:prstGeom prst="rect">
            <a:avLst/>
          </a:prstGeom>
        </p:spPr>
      </p:pic>
      <p:pic>
        <p:nvPicPr>
          <p:cNvPr id="12" name="Picture 11" descr="waack_two_version_shee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257800" cy="32004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85800" y="4800600"/>
            <a:ext cx="2514600" cy="822960"/>
          </a:xfrm>
          <a:prstGeom prst="roundRect">
            <a:avLst/>
          </a:prstGeom>
          <a:solidFill>
            <a:srgbClr val="2D1E1C"/>
          </a:solidFill>
          <a:ln w="15240">
            <a:solidFill>
              <a:srgbClr val="FF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992624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>
                <a:solidFill>
                  <a:srgbClr val="FF6363"/>
                </a:solidFill>
                <a:latin typeface="Aptos"/>
              </a:rPr>
              <a:t>Expressive free-root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5285232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EEF6F9"/>
                </a:solidFill>
                <a:latin typeface="Aptos"/>
              </a:rPr>
              <a:t>can fall early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1880" y="4800600"/>
            <a:ext cx="2514600" cy="822960"/>
          </a:xfrm>
          <a:prstGeom prst="roundRect">
            <a:avLst/>
          </a:prstGeom>
          <a:solidFill>
            <a:srgbClr val="123C30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13048" y="4992624"/>
            <a:ext cx="2057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20" b="1">
                <a:solidFill>
                  <a:srgbClr val="34D399"/>
                </a:solidFill>
                <a:latin typeface="Aptos"/>
              </a:rPr>
              <a:t>Contact-aware / footlock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3048" y="5285232"/>
            <a:ext cx="2057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EEF6F9"/>
                </a:solidFill>
                <a:latin typeface="Aptos"/>
              </a:rPr>
              <a:t>100% stable on tested clips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4800600"/>
            <a:ext cx="2331720" cy="822960"/>
          </a:xfrm>
          <a:prstGeom prst="roundRect">
            <a:avLst/>
          </a:prstGeom>
          <a:solidFill>
            <a:srgbClr val="332718"/>
          </a:solidFill>
          <a:ln w="15240">
            <a:solidFill>
              <a:srgbClr val="FFA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84848" y="4992624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>
                <a:solidFill>
                  <a:srgbClr val="FFA44B"/>
                </a:solidFill>
                <a:latin typeface="Aptos"/>
              </a:rPr>
              <a:t>Pinned showcase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4848" y="5285232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EEF6F9"/>
                </a:solidFill>
                <a:latin typeface="Aptos"/>
              </a:rPr>
              <a:t>best visual dance quality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60" y="4800600"/>
            <a:ext cx="2148840" cy="822960"/>
          </a:xfrm>
          <a:prstGeom prst="roundRect">
            <a:avLst/>
          </a:prstGeom>
          <a:solidFill>
            <a:srgbClr val="10303E"/>
          </a:solidFill>
          <a:ln w="15240">
            <a:solidFill>
              <a:srgbClr val="B6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82912" y="4992624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>
                <a:solidFill>
                  <a:srgbClr val="B6E8F2"/>
                </a:solidFill>
                <a:latin typeface="Aptos"/>
              </a:rPr>
              <a:t>Foot slip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82912" y="5285232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EEF6F9"/>
                </a:solidFill>
                <a:latin typeface="Aptos"/>
              </a:rPr>
              <a:t>small reduction after lock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925312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50" b="1">
                <a:solidFill>
                  <a:srgbClr val="EEF6F9"/>
                </a:solidFill>
                <a:latin typeface="Aptos"/>
              </a:rPr>
              <a:t>Pinned answers: does it look like dancing?  Free-root answers: can it physically survive?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7772400" y="-182880"/>
            <a:ext cx="4754880" cy="1920240"/>
          </a:xfrm>
          <a:prstGeom prst="parallelogram">
            <a:avLst/>
          </a:prstGeom>
          <a:solidFill>
            <a:srgbClr val="0D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6355080"/>
            <a:ext cx="685800" cy="3200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25880" y="6355080"/>
            <a:ext cx="685800" cy="32004"/>
          </a:xfrm>
          <a:prstGeom prst="rect">
            <a:avLst/>
          </a:prstGeom>
          <a:solidFill>
            <a:srgbClr val="FF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31720" y="6355080"/>
            <a:ext cx="685800" cy="3200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37560" y="6355080"/>
            <a:ext cx="685800" cy="32004"/>
          </a:xfrm>
          <a:prstGeom prst="rect">
            <a:avLst/>
          </a:prstGeom>
          <a:solidFill>
            <a:srgbClr val="FF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3400" y="6355080"/>
            <a:ext cx="685800" cy="3200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49240" y="6355080"/>
            <a:ext cx="685800" cy="32004"/>
          </a:xfrm>
          <a:prstGeom prst="rect">
            <a:avLst/>
          </a:prstGeom>
          <a:solidFill>
            <a:srgbClr val="FF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347472"/>
            <a:ext cx="79552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100" b="1">
                <a:solidFill>
                  <a:srgbClr val="EEF6F9"/>
                </a:solidFill>
                <a:latin typeface="Bahnschrift"/>
              </a:rPr>
              <a:t>Takeaways and 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932688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1">
                <a:solidFill>
                  <a:srgbClr val="34D399"/>
                </a:solidFill>
                <a:latin typeface="Aptos"/>
              </a:rPr>
              <a:t>CONCLUSION  |  WHAT WE LEARNED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325880"/>
            <a:ext cx="5303520" cy="3246120"/>
          </a:xfrm>
          <a:prstGeom prst="roundRect">
            <a:avLst/>
          </a:prstGeom>
          <a:solidFill>
            <a:srgbClr val="122D42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62763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>
                <a:solidFill>
                  <a:srgbClr val="34D399"/>
                </a:solidFill>
                <a:latin typeface="Aptos"/>
              </a:rPr>
              <a:t>Key takeaways</a:t>
            </a:r>
          </a:p>
        </p:txBody>
      </p:sp>
      <p:sp>
        <p:nvSpPr>
          <p:cNvPr id="13" name="Oval 12"/>
          <p:cNvSpPr/>
          <p:nvPr/>
        </p:nvSpPr>
        <p:spPr>
          <a:xfrm>
            <a:off x="1115568" y="2194560"/>
            <a:ext cx="164592" cy="164592"/>
          </a:xfrm>
          <a:prstGeom prst="ellipse">
            <a:avLst/>
          </a:prstGeom>
          <a:solidFill>
            <a:srgbClr val="FFA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9888" y="2167128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1">
                <a:solidFill>
                  <a:srgbClr val="EEF6F9"/>
                </a:solidFill>
                <a:latin typeface="Aptos"/>
              </a:rPr>
              <a:t>Human dance is not robot motion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386584"/>
            <a:ext cx="3840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>
                <a:solidFill>
                  <a:srgbClr val="A5BAC5"/>
                </a:solidFill>
                <a:latin typeface="Aptos"/>
              </a:rPr>
              <a:t>Music-to-dance output still needs robot-aware processing.</a:t>
            </a:r>
          </a:p>
        </p:txBody>
      </p:sp>
      <p:sp>
        <p:nvSpPr>
          <p:cNvPr id="16" name="Oval 15"/>
          <p:cNvSpPr/>
          <p:nvPr/>
        </p:nvSpPr>
        <p:spPr>
          <a:xfrm>
            <a:off x="1115568" y="2871216"/>
            <a:ext cx="164592" cy="16459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2843784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1">
                <a:solidFill>
                  <a:srgbClr val="EEF6F9"/>
                </a:solidFill>
                <a:latin typeface="Aptos"/>
              </a:rPr>
              <a:t>Trade-off is central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3063240"/>
            <a:ext cx="3840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>
                <a:solidFill>
                  <a:srgbClr val="A5BAC5"/>
                </a:solidFill>
                <a:latin typeface="Aptos"/>
              </a:rPr>
              <a:t>Expressiveness and free-root stability pull in opposite directions.</a:t>
            </a:r>
          </a:p>
        </p:txBody>
      </p:sp>
      <p:sp>
        <p:nvSpPr>
          <p:cNvPr id="19" name="Oval 18"/>
          <p:cNvSpPr/>
          <p:nvPr/>
        </p:nvSpPr>
        <p:spPr>
          <a:xfrm>
            <a:off x="1115568" y="3547872"/>
            <a:ext cx="164592" cy="164592"/>
          </a:xfrm>
          <a:prstGeom prst="ellipse">
            <a:avLst/>
          </a:prstGeom>
          <a:solidFill>
            <a:srgbClr val="B6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89888" y="3520440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1">
                <a:solidFill>
                  <a:srgbClr val="EEF6F9"/>
                </a:solidFill>
                <a:latin typeface="Aptos"/>
              </a:rPr>
              <a:t>Two outputs are honest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3739896"/>
            <a:ext cx="3840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>
                <a:solidFill>
                  <a:srgbClr val="A5BAC5"/>
                </a:solidFill>
                <a:latin typeface="Aptos"/>
              </a:rPr>
              <a:t>Showcase for visual quality; free-root rollout for physics.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73952" y="1325880"/>
            <a:ext cx="4617720" cy="3246120"/>
          </a:xfrm>
          <a:prstGeom prst="roundRect">
            <a:avLst/>
          </a:prstGeom>
          <a:solidFill>
            <a:srgbClr val="122D42"/>
          </a:solidFill>
          <a:ln w="15240">
            <a:solidFill>
              <a:srgbClr val="FFA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84848" y="162763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>
                <a:solidFill>
                  <a:srgbClr val="FFA44B"/>
                </a:solidFill>
                <a:latin typeface="Aptos"/>
              </a:rPr>
              <a:t>Future 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2212848"/>
            <a:ext cx="3611880" cy="1572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50" b="0">
                <a:solidFill>
                  <a:srgbClr val="EEF6F9"/>
                </a:solidFill>
                <a:latin typeface="Aptos"/>
              </a:rPr>
              <a:t>- Contact-aware lower-body IK
- COM-aware root correction
- Better support-phase detection
- Learning-based policy tracking
- More music styles and longer clips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70432" y="5230368"/>
            <a:ext cx="9829800" cy="685800"/>
          </a:xfrm>
          <a:prstGeom prst="roundRect">
            <a:avLst/>
          </a:prstGeom>
          <a:solidFill>
            <a:srgbClr val="113C4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8760" y="5468112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20" b="1">
                <a:solidFill>
                  <a:srgbClr val="EEF6F9"/>
                </a:solidFill>
                <a:latin typeface="Aptos"/>
              </a:rPr>
              <a:t>Next goal: not only keep G1 standing, but preserve dance expressiveness under real physical constraints.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